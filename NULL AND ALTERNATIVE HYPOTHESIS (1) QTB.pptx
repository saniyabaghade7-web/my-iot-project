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20" r:id="rId5"/>
    <p:sldId id="312" r:id="rId6"/>
    <p:sldId id="304" r:id="rId7"/>
    <p:sldId id="307" r:id="rId8"/>
    <p:sldId id="281" r:id="rId9"/>
    <p:sldId id="282" r:id="rId10"/>
    <p:sldId id="314" r:id="rId11"/>
    <p:sldId id="315" r:id="rId12"/>
    <p:sldId id="317" r:id="rId13"/>
    <p:sldId id="318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>
        <p:scale>
          <a:sx n="118" d="100"/>
          <a:sy n="118" d="100"/>
        </p:scale>
        <p:origin x="-312" y="-186"/>
      </p:cViewPr>
      <p:guideLst>
        <p:guide orient="horz" pos="2616"/>
        <p:guide orient="horz" pos="3264"/>
        <p:guide orient="horz"/>
        <p:guide orient="horz" pos="4008"/>
        <p:guide orient="horz" pos="2352"/>
        <p:guide orient="horz" pos="2448"/>
        <p:guide pos="691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xmlns="" id="{BA5D5A72-CB6F-F8DE-E2C9-90459C8C3D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E66FD7FF-2869-7902-36B2-2B229AB9AB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B1457C88-4472-81CF-02AF-4421E0A308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75923D9E-9381-3D11-B31A-1BF5C97F35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xmlns="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0F297964-0B81-31DC-6D6D-1414832238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xmlns="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xmlns="" id="{EFFAEAD9-58A9-096B-C6D0-58F7AD08EB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537D12D-0FCA-3396-988D-452D3D526E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1710CE8-8A83-C0D3-623E-AFCC6C6A29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7AA66C80-37C3-6D28-7564-733A30B2CD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xmlns="" id="{D9DB7C23-E0CF-A75F-BFFD-4E7679AF4A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xmlns="" id="{4D62A0CC-A0CE-403A-A167-27225B2C60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xmlns="" id="{F8AD83DA-A293-6D56-F606-7C98C403A3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86F8B46B-EF6E-BC12-09E2-0F3B779197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5D7B4F11-E150-473B-98F5-6E6AC96468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xmlns="" id="{A8E2FA61-C047-21BB-AA50-F84AD76854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xmlns="" id="{1A2791BA-760E-9FA5-8743-D0B699FC98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xmlns="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xmlns="" id="{2A3EC91E-4089-D366-06D3-3E66F93DFA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xmlns="" id="{70F595E1-C910-3710-90E9-AF5FFCE058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xmlns="" id="{AA39EF58-54F1-4AC9-1D83-2E7DEEAAEA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xmlns="" id="{0C320934-59CC-4123-C7C1-FEEE89F304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xmlns="" id="{EC46DC71-C12A-96C8-3FE2-AA95AB58B3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xmlns="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xmlns="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xmlns="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xmlns="" id="{CD2D664E-6702-6607-A37E-2E99614491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xmlns="" id="{951C5737-DF7E-D671-AC74-9E488335BC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xmlns="" id="{F232A1E1-DD38-15EA-6CA1-A84950EC43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xmlns="" id="{B9036D42-A06F-E6EE-BB91-8BAF045198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xmlns="" id="{86E0540C-3355-A50D-AC61-047B54B70C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xmlns="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xmlns="" id="{3C7B0BB3-A5CA-7C72-DC39-AD00EC9096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xmlns="" id="{07871527-68A5-0A5C-F5A6-A80523BAC9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xmlns="" id="{CEB118B3-9B06-AD11-738A-7A0651F98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xmlns="" id="{0EA94262-504E-06F2-F383-E832C37B12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xmlns="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xmlns="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xmlns="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xmlns="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376CF4B8-1811-BD21-43A7-560AC4724F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30B7B4F0-D3BC-63DF-6429-F771BE5A32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xmlns="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B9152F76-E42E-3D76-6BDB-2FA0D69216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xmlns="" id="{ED0348C7-D83F-0AD7-2539-41219A7956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xmlns="" id="{E911AA2D-BE77-278D-CD2E-2EB3E180F3B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xmlns="" id="{B6CE0BA6-C0FD-AC39-6C31-8477E0CAFDB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xmlns="" id="{666AD1A4-36DE-12F3-BB78-BA678A5957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xmlns="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xmlns="" id="{28259CF0-6BC5-3693-6F49-C4489C07C3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xmlns="" id="{9019DA73-2516-F3D2-ECDB-620C90483D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xmlns="" id="{5665DA82-D253-8EC5-5DFB-F0266ED9FB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xmlns="" id="{A8B7F1F1-806C-8D65-7340-220A0C4653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xmlns="" id="{E76518D4-6149-BA03-3BE5-6A13A792C1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xmlns="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xmlns="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xmlns="" id="{D014917C-8694-B4A4-A211-0F31F00E24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xmlns="" id="{A7DB6972-BB75-254A-BA88-C0C3E6E93B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xmlns="" id="{790E862E-398F-571C-EC2C-3D17164DE0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xmlns="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xmlns="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xmlns="" id="{D5595DD5-43B0-252F-8BC6-6B74340C5B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xmlns="" id="{BC3A3767-6C5E-8188-0A49-955BBACE37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xmlns="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xmlns="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xmlns="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xmlns="" id="{C6639AD7-128F-B39D-B45F-0F22A2C6D6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xmlns="" id="{48479A23-C29C-C711-510C-05B69B8822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xmlns="" id="{F3DC42FA-4B8F-2EFC-CAB4-1CCAB93BEB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376CF4B8-1811-BD21-43A7-560AC4724F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30B7B4F0-D3BC-63DF-6429-F771BE5A32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xmlns="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xmlns="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AEF1F750-031C-BDB7-BD7B-9CBE17406F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FEB515B5-2D9F-58E1-6E3C-CCBF105D89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xmlns="" id="{5CCFEDF9-5B69-87BA-8A33-35033DA401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2C6B5F91-ABF5-D0B6-E43F-40CEDC3A6D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2D64F1-27B6-A1E5-4F44-A6029FAB30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A626DE4B-D4E5-B36A-89FA-7C0E87AFC3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95243571-BE64-3777-F992-88FC43A605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DFAE2CB-0EAD-E788-FCB7-FB12F69391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AA6B609-D718-DB49-892F-7E49376CC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177432-5EDC-6049-C6D6-FD3037EA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717" y="3538271"/>
            <a:ext cx="4368800" cy="1427100"/>
          </a:xfrm>
        </p:spPr>
        <p:txBody>
          <a:bodyPr/>
          <a:lstStyle/>
          <a:p>
            <a:r>
              <a:rPr lang="en-US" sz="1400" dirty="0"/>
              <a:t>         </a:t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         MBA : </a:t>
            </a:r>
            <a:r>
              <a:rPr lang="en-US" sz="1400" b="0" dirty="0"/>
              <a:t>1</a:t>
            </a:r>
            <a:r>
              <a:rPr lang="en-US" sz="1400" b="0" baseline="30000" dirty="0"/>
              <a:t>ST</a:t>
            </a:r>
            <a:r>
              <a:rPr lang="en-US" sz="1400" b="0" dirty="0"/>
              <a:t> SEM</a:t>
            </a:r>
            <a:br>
              <a:rPr lang="en-US" sz="1400" b="0" dirty="0"/>
            </a:br>
            <a:r>
              <a:rPr lang="en-US" sz="1400" b="0" dirty="0"/>
              <a:t/>
            </a:r>
            <a:br>
              <a:rPr lang="en-US" sz="1400" b="0" dirty="0"/>
            </a:br>
            <a:r>
              <a:rPr lang="en-US" sz="1400" b="0" dirty="0"/>
              <a:t>         SUBJECT: TWSL-QTB</a:t>
            </a:r>
            <a:br>
              <a:rPr lang="en-US" sz="1400" b="0" dirty="0"/>
            </a:br>
            <a:r>
              <a:rPr lang="en-US" sz="1400" b="0" dirty="0"/>
              <a:t/>
            </a:r>
            <a:br>
              <a:rPr lang="en-US" sz="1400" b="0" dirty="0"/>
            </a:br>
            <a:r>
              <a:rPr lang="en-US" sz="1400" b="0" dirty="0"/>
              <a:t>         GROUP No: </a:t>
            </a:r>
            <a:r>
              <a:rPr lang="en-US" sz="1400" b="0" dirty="0" smtClean="0"/>
              <a:t>23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E9BFBC3-F0D8-939D-7BFD-8EF071BE9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B75375C-2F7A-EFA5-407E-6C5FEF541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5286" y="720131"/>
            <a:ext cx="3489993" cy="3720337"/>
          </a:xfrm>
        </p:spPr>
        <p:txBody>
          <a:bodyPr>
            <a:normAutofit/>
          </a:bodyPr>
          <a:lstStyle/>
          <a:p>
            <a:r>
              <a:rPr lang="en-US" sz="2800" b="1" dirty="0"/>
              <a:t>       </a:t>
            </a:r>
            <a:endParaRPr lang="en-IN" sz="24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28252A6A-5FFB-6B59-EFEA-A10922340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54717" y="623026"/>
            <a:ext cx="4345567" cy="3720337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  </a:t>
            </a:r>
          </a:p>
          <a:p>
            <a:endParaRPr lang="en-US" sz="2800" b="1" dirty="0"/>
          </a:p>
          <a:p>
            <a:r>
              <a:rPr lang="en-US" sz="2800" b="1" dirty="0" smtClean="0"/>
              <a:t>Name : </a:t>
            </a:r>
            <a:r>
              <a:rPr lang="en-US" sz="2800" b="1" dirty="0" err="1" smtClean="0"/>
              <a:t>Rutuja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Talwatkar</a:t>
            </a:r>
            <a:endParaRPr lang="en-US" sz="2800" b="1" dirty="0" smtClean="0"/>
          </a:p>
          <a:p>
            <a:r>
              <a:rPr lang="en-US" sz="2800" b="1" dirty="0" smtClean="0"/>
              <a:t> Unique ID:PGF25MB135</a:t>
            </a:r>
            <a:endParaRPr lang="en-US" sz="1400" b="1" dirty="0"/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97562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IN" b="0" dirty="0"/>
              <a:t>Null and Alternative Hypothesis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sz="3200" b="0" dirty="0"/>
              <a:t>Meaning of Hypothesis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•  A statement that can be tested.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•  Gives a direction to research.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•  Helps in decision-making based on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695" y="1361439"/>
            <a:ext cx="7847305" cy="4998085"/>
          </a:xfrm>
        </p:spPr>
        <p:txBody>
          <a:bodyPr/>
          <a:lstStyle/>
          <a:p>
            <a:r>
              <a:rPr lang="en-IN" sz="3200" b="0" dirty="0"/>
              <a:t>     Null Hypothesis (H0)</a:t>
            </a:r>
            <a:r>
              <a:rPr lang="en-IN" b="0" dirty="0"/>
              <a:t/>
            </a:r>
            <a:br>
              <a:rPr lang="en-IN" b="0" dirty="0"/>
            </a:br>
            <a:r>
              <a:rPr lang="en-IN" b="0" dirty="0"/>
              <a:t/>
            </a:r>
            <a:br>
              <a:rPr lang="en-IN" b="0" dirty="0"/>
            </a:br>
            <a:r>
              <a:rPr lang="en-US" sz="2400" b="0" dirty="0"/>
              <a:t>• </a:t>
            </a:r>
            <a:r>
              <a:rPr lang="en-IN" sz="2400" b="0" dirty="0">
                <a:latin typeface="Franklin Gothic Medium" panose="020B0603020102020204" pitchFamily="34" charset="0"/>
              </a:rPr>
              <a:t>Assumes no effect, no difference.</a:t>
            </a:r>
            <a:br>
              <a:rPr lang="en-IN" sz="2400" b="0" dirty="0">
                <a:latin typeface="Franklin Gothic Medium" panose="020B0603020102020204" pitchFamily="34" charset="0"/>
              </a:rPr>
            </a:br>
            <a:r>
              <a:rPr lang="en-IN" sz="2400" b="0" dirty="0"/>
              <a:t/>
            </a:r>
            <a:br>
              <a:rPr lang="en-IN" sz="2400" b="0" dirty="0"/>
            </a:br>
            <a:r>
              <a:rPr lang="en-US" sz="2400" b="0" dirty="0"/>
              <a:t>• </a:t>
            </a:r>
            <a:r>
              <a:rPr lang="en-US" sz="2400" b="0" dirty="0">
                <a:latin typeface="Franklin Gothic Medium" panose="020B0603020102020204" pitchFamily="34" charset="0"/>
              </a:rPr>
              <a:t>Research tries to reject H0.</a:t>
            </a:r>
            <a:br>
              <a:rPr lang="en-US" sz="2400" b="0" dirty="0">
                <a:latin typeface="Franklin Gothic Medium" panose="020B0603020102020204" pitchFamily="34" charset="0"/>
              </a:rPr>
            </a:br>
            <a:r>
              <a:rPr lang="en-US" sz="2400" b="0" dirty="0">
                <a:latin typeface="Franklin Gothic Medium" panose="020B0603020102020204" pitchFamily="34" charset="0"/>
              </a:rPr>
              <a:t/>
            </a:r>
            <a:br>
              <a:rPr lang="en-US" sz="2400" b="0" dirty="0">
                <a:latin typeface="Franklin Gothic Medium" panose="020B0603020102020204" pitchFamily="34" charset="0"/>
              </a:rPr>
            </a:br>
            <a:r>
              <a:rPr lang="en-US" sz="2400" b="0" dirty="0">
                <a:latin typeface="Franklin Gothic Medium" panose="020B0603020102020204" pitchFamily="34" charset="0"/>
              </a:rPr>
              <a:t>• Example: 'There is no difference </a:t>
            </a:r>
            <a:r>
              <a:rPr lang="en-IN" sz="2400" b="0" dirty="0">
                <a:latin typeface="Franklin Gothic Medium" panose="020B0603020102020204" pitchFamily="34" charset="0"/>
              </a:rPr>
              <a:t>in sales</a:t>
            </a:r>
            <a:br>
              <a:rPr lang="en-IN" sz="2400" b="0" dirty="0">
                <a:latin typeface="Franklin Gothic Medium" panose="020B0603020102020204" pitchFamily="34" charset="0"/>
              </a:rPr>
            </a:br>
            <a:r>
              <a:rPr lang="en-IN" sz="2400" b="0" dirty="0">
                <a:latin typeface="Franklin Gothic Medium" panose="020B0603020102020204" pitchFamily="34" charset="0"/>
              </a:rPr>
              <a:t>                       before and after advertising.'</a:t>
            </a:r>
            <a:endParaRPr lang="en-US" sz="2400" dirty="0">
              <a:latin typeface="Franklin Gothic Medium" panose="020B0603020102020204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xmlns="" id="{2C6FB30C-0A3A-A8BA-1B38-BB2498AAD18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878" b="878"/>
          <a:stretch>
            <a:fillRect/>
          </a:stretch>
        </p:blipFill>
        <p:spPr>
          <a:xfrm>
            <a:off x="0" y="-1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2555"/>
            <a:ext cx="5259554" cy="2495028"/>
          </a:xfrm>
        </p:spPr>
        <p:txBody>
          <a:bodyPr/>
          <a:lstStyle/>
          <a:p>
            <a:r>
              <a:rPr lang="en-IN" b="0" dirty="0"/>
              <a:t>Alternative Hypothesis (H1)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965470"/>
            <a:ext cx="5872480" cy="2233233"/>
          </a:xfrm>
        </p:spPr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• Assumes there is an effect or difference.</a:t>
            </a:r>
          </a:p>
          <a:p>
            <a:endParaRPr lang="en-US" dirty="0">
              <a:latin typeface="Franklin Gothic Medium" panose="020B0603020102020204" pitchFamily="34" charset="0"/>
            </a:endParaRPr>
          </a:p>
          <a:p>
            <a:r>
              <a:rPr lang="en-US" dirty="0">
                <a:latin typeface="Franklin Gothic Medium" panose="020B0603020102020204" pitchFamily="34" charset="0"/>
              </a:rPr>
              <a:t>• Accepted when H0 is rejected.</a:t>
            </a:r>
          </a:p>
          <a:p>
            <a:endParaRPr lang="en-IN" dirty="0">
              <a:latin typeface="Franklin Gothic Medium" panose="020B0603020102020204" pitchFamily="34" charset="0"/>
            </a:endParaRPr>
          </a:p>
          <a:p>
            <a:r>
              <a:rPr lang="en-IN" dirty="0">
                <a:latin typeface="Franklin Gothic Medium" panose="020B0603020102020204" pitchFamily="34" charset="0"/>
              </a:rPr>
              <a:t>• Example: 'Advertising increases sales.'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EE58FD0-64BF-9A9C-EECA-2670C8A9F923}"/>
              </a:ext>
            </a:extLst>
          </p:cNvPr>
          <p:cNvSpPr txBox="1"/>
          <p:nvPr/>
        </p:nvSpPr>
        <p:spPr>
          <a:xfrm>
            <a:off x="9265920" y="2617583"/>
            <a:ext cx="2529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</a:t>
            </a:r>
            <a:endParaRPr lang="en-IN" sz="9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245" y="2223276"/>
            <a:ext cx="9178475" cy="994164"/>
          </a:xfrm>
        </p:spPr>
        <p:txBody>
          <a:bodyPr/>
          <a:lstStyle/>
          <a:p>
            <a:r>
              <a:rPr lang="en-IN" sz="3200" b="0" dirty="0"/>
              <a:t>Types of Alternative Hypothesis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4752" y="3833601"/>
            <a:ext cx="7965460" cy="2993286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Franklin Gothic Medium" panose="020B0603020102020204" pitchFamily="34" charset="0"/>
              </a:rPr>
              <a:t>1. **One-Tailed (Directional)**</a:t>
            </a:r>
          </a:p>
          <a:p>
            <a:pPr marL="0" indent="0">
              <a:buNone/>
            </a:pPr>
            <a:r>
              <a:rPr lang="en-US" dirty="0">
                <a:latin typeface="Franklin Gothic Medium" panose="020B0603020102020204" pitchFamily="34" charset="0"/>
              </a:rPr>
              <a:t>      • Example: 'Boys score higher than girls.’</a:t>
            </a:r>
          </a:p>
          <a:p>
            <a:pPr marL="0" indent="0">
              <a:buNone/>
            </a:pPr>
            <a:r>
              <a:rPr lang="en-IN" dirty="0">
                <a:latin typeface="Franklin Gothic Medium" panose="020B0603020102020204" pitchFamily="34" charset="0"/>
              </a:rPr>
              <a:t> </a:t>
            </a:r>
          </a:p>
          <a:p>
            <a:pPr marL="0" indent="0">
              <a:buNone/>
            </a:pPr>
            <a:r>
              <a:rPr lang="en-IN" b="1" dirty="0">
                <a:latin typeface="Franklin Gothic Medium" panose="020B0603020102020204" pitchFamily="34" charset="0"/>
              </a:rPr>
              <a:t>2. **Two-Tailed (Non-directional)**</a:t>
            </a:r>
          </a:p>
          <a:p>
            <a:pPr marL="0" indent="0">
              <a:buNone/>
            </a:pPr>
            <a:r>
              <a:rPr lang="en-IN" dirty="0">
                <a:latin typeface="Franklin Gothic Medium" panose="020B0603020102020204" pitchFamily="34" charset="0"/>
              </a:rPr>
              <a:t>       </a:t>
            </a:r>
            <a:r>
              <a:rPr lang="en-US" dirty="0">
                <a:latin typeface="Franklin Gothic Medium" panose="020B0603020102020204" pitchFamily="34" charset="0"/>
              </a:rPr>
              <a:t>• Example: 'There is a difference in scores </a:t>
            </a:r>
            <a:r>
              <a:rPr lang="en-IN" dirty="0">
                <a:latin typeface="Franklin Gothic Medium" panose="020B0603020102020204" pitchFamily="34" charset="0"/>
              </a:rPr>
              <a:t>between boys and girls.'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xmlns="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380308"/>
            <a:ext cx="7043617" cy="2520217"/>
          </a:xfrm>
        </p:spPr>
        <p:txBody>
          <a:bodyPr/>
          <a:lstStyle/>
          <a:p>
            <a:r>
              <a:rPr lang="en-IN" b="0" dirty="0"/>
              <a:t>Real-Life Business 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347565"/>
            <a:ext cx="7043618" cy="3053235"/>
          </a:xfrm>
        </p:spPr>
        <p:txBody>
          <a:bodyPr>
            <a:normAutofit/>
          </a:bodyPr>
          <a:lstStyle/>
          <a:p>
            <a:r>
              <a:rPr lang="en-US" b="1" dirty="0">
                <a:latin typeface="Franklin Gothic Medium" panose="020B0603020102020204" pitchFamily="34" charset="0"/>
              </a:rPr>
              <a:t>Company launches a new training</a:t>
            </a:r>
          </a:p>
          <a:p>
            <a:r>
              <a:rPr lang="en-IN" b="1" dirty="0">
                <a:latin typeface="Franklin Gothic Medium" panose="020B0603020102020204" pitchFamily="34" charset="0"/>
              </a:rPr>
              <a:t>program.</a:t>
            </a:r>
          </a:p>
          <a:p>
            <a:endParaRPr lang="en-US" dirty="0">
              <a:latin typeface="Franklin Gothic Medium" panose="020B0603020102020204" pitchFamily="34" charset="0"/>
            </a:endParaRPr>
          </a:p>
          <a:p>
            <a:r>
              <a:rPr lang="en-US" dirty="0">
                <a:latin typeface="Franklin Gothic Medium" panose="020B0603020102020204" pitchFamily="34" charset="0"/>
              </a:rPr>
              <a:t>• H0: The training program does not</a:t>
            </a:r>
          </a:p>
          <a:p>
            <a:r>
              <a:rPr lang="en-IN" dirty="0">
                <a:latin typeface="Franklin Gothic Medium" panose="020B0603020102020204" pitchFamily="34" charset="0"/>
              </a:rPr>
              <a:t>improve employee performance.</a:t>
            </a:r>
          </a:p>
          <a:p>
            <a:endParaRPr lang="en-US" dirty="0">
              <a:latin typeface="Franklin Gothic Medium" panose="020B0603020102020204" pitchFamily="34" charset="0"/>
            </a:endParaRPr>
          </a:p>
          <a:p>
            <a:r>
              <a:rPr lang="en-US" dirty="0">
                <a:latin typeface="Franklin Gothic Medium" panose="020B0603020102020204" pitchFamily="34" charset="0"/>
              </a:rPr>
              <a:t>• H1: The training program improves</a:t>
            </a:r>
          </a:p>
          <a:p>
            <a:r>
              <a:rPr lang="en-IN" dirty="0">
                <a:latin typeface="Franklin Gothic Medium" panose="020B0603020102020204" pitchFamily="34" charset="0"/>
              </a:rPr>
              <a:t>employee performance.</a:t>
            </a:r>
            <a:endParaRPr lang="en-US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b="0" dirty="0"/>
              <a:t>Difference Between H0 and H1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xmlns="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1200" y="2303028"/>
            <a:ext cx="3486319" cy="3720337"/>
          </a:xfrm>
        </p:spPr>
        <p:txBody>
          <a:bodyPr>
            <a:normAutofit/>
          </a:bodyPr>
          <a:lstStyle/>
          <a:p>
            <a:r>
              <a:rPr lang="en-IN" sz="3200" b="1" dirty="0"/>
              <a:t>            H0</a:t>
            </a:r>
          </a:p>
          <a:p>
            <a:r>
              <a:rPr lang="en-US" sz="1600" dirty="0">
                <a:latin typeface="Franklin Gothic Medium" panose="020B0603020102020204" pitchFamily="34" charset="0"/>
              </a:rPr>
              <a:t>• </a:t>
            </a:r>
            <a:r>
              <a:rPr lang="en-US" sz="1600" b="1" dirty="0">
                <a:latin typeface="Franklin Gothic Medium" panose="020B0603020102020204" pitchFamily="34" charset="0"/>
              </a:rPr>
              <a:t>BASIS :     </a:t>
            </a:r>
            <a:r>
              <a:rPr lang="en-US" sz="1400" dirty="0">
                <a:latin typeface="Franklin Gothic Medium" panose="020B0603020102020204" pitchFamily="34" charset="0"/>
              </a:rPr>
              <a:t>H0(NULL HYPOTHESIS)</a:t>
            </a:r>
          </a:p>
          <a:p>
            <a:r>
              <a:rPr lang="en-US" sz="1400" dirty="0">
                <a:latin typeface="Franklin Gothic Medium" panose="020B0603020102020204" pitchFamily="34" charset="0"/>
              </a:rPr>
              <a:t>• </a:t>
            </a:r>
            <a:r>
              <a:rPr lang="en-US" sz="1400" b="1" dirty="0">
                <a:latin typeface="Franklin Gothic Medium" panose="020B0603020102020204" pitchFamily="34" charset="0"/>
              </a:rPr>
              <a:t>MEANING : </a:t>
            </a:r>
            <a:r>
              <a:rPr lang="en-US" sz="1400" dirty="0">
                <a:latin typeface="Franklin Gothic Medium" panose="020B0603020102020204" pitchFamily="34" charset="0"/>
              </a:rPr>
              <a:t>ASSUMES NO EFFECT,</a:t>
            </a:r>
          </a:p>
          <a:p>
            <a:r>
              <a:rPr lang="en-US" sz="1400" b="1" dirty="0">
                <a:latin typeface="Franklin Gothic Medium" panose="020B0603020102020204" pitchFamily="34" charset="0"/>
              </a:rPr>
              <a:t>                        </a:t>
            </a:r>
            <a:r>
              <a:rPr lang="en-US" sz="1400" dirty="0">
                <a:latin typeface="Franklin Gothic Medium" panose="020B0603020102020204" pitchFamily="34" charset="0"/>
              </a:rPr>
              <a:t>NO DIFFERENCE</a:t>
            </a:r>
          </a:p>
          <a:p>
            <a:r>
              <a:rPr lang="en-US" sz="1400" b="1" dirty="0">
                <a:latin typeface="Franklin Gothic Medium" panose="020B0603020102020204" pitchFamily="34" charset="0"/>
              </a:rPr>
              <a:t>• NATURE </a:t>
            </a:r>
            <a:r>
              <a:rPr lang="en-US" sz="1400" dirty="0">
                <a:latin typeface="Franklin Gothic Medium" panose="020B0603020102020204" pitchFamily="34" charset="0"/>
              </a:rPr>
              <a:t>:    NEGATIVE</a:t>
            </a:r>
          </a:p>
          <a:p>
            <a:r>
              <a:rPr lang="en-US" sz="1400" b="1" dirty="0">
                <a:latin typeface="Franklin Gothic Medium" panose="020B0603020102020204" pitchFamily="34" charset="0"/>
              </a:rPr>
              <a:t>• SYMBOL :    </a:t>
            </a:r>
            <a:r>
              <a:rPr lang="en-US" sz="1400" dirty="0">
                <a:latin typeface="Franklin Gothic Medium" panose="020B0603020102020204" pitchFamily="34" charset="0"/>
              </a:rPr>
              <a:t>H0</a:t>
            </a:r>
            <a:endParaRPr lang="en-IN" sz="1400" dirty="0">
              <a:latin typeface="Franklin Gothic Medium" panose="020B0603020102020204" pitchFamily="34" charset="0"/>
            </a:endParaRP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xmlns="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61841" y="2303028"/>
            <a:ext cx="3992880" cy="3720337"/>
          </a:xfrm>
        </p:spPr>
        <p:txBody>
          <a:bodyPr>
            <a:normAutofit/>
          </a:bodyPr>
          <a:lstStyle/>
          <a:p>
            <a:r>
              <a:rPr lang="en-IN" sz="3200" dirty="0"/>
              <a:t>             </a:t>
            </a:r>
            <a:r>
              <a:rPr lang="en-IN" sz="3200" b="1" dirty="0"/>
              <a:t>H1</a:t>
            </a:r>
          </a:p>
          <a:p>
            <a:r>
              <a:rPr lang="en-US" sz="1400" b="1" dirty="0">
                <a:latin typeface="Franklin Gothic Medium" panose="020B0603020102020204" pitchFamily="34" charset="0"/>
              </a:rPr>
              <a:t>• BASIS :       </a:t>
            </a:r>
            <a:r>
              <a:rPr lang="en-US" sz="1400" dirty="0">
                <a:latin typeface="Franklin Gothic Medium" panose="020B0603020102020204" pitchFamily="34" charset="0"/>
              </a:rPr>
              <a:t>H1 (ALTERNATIVE HYPOTHESIS)</a:t>
            </a:r>
          </a:p>
          <a:p>
            <a:r>
              <a:rPr lang="en-US" sz="1400" dirty="0">
                <a:latin typeface="Franklin Gothic Medium" panose="020B0603020102020204" pitchFamily="34" charset="0"/>
              </a:rPr>
              <a:t>• </a:t>
            </a:r>
            <a:r>
              <a:rPr lang="en-US" sz="1400" b="1" dirty="0">
                <a:latin typeface="Franklin Gothic Medium" panose="020B0603020102020204" pitchFamily="34" charset="0"/>
              </a:rPr>
              <a:t>MEANING : </a:t>
            </a:r>
            <a:r>
              <a:rPr lang="en-US" sz="1400" dirty="0">
                <a:latin typeface="Franklin Gothic Medium" panose="020B0603020102020204" pitchFamily="34" charset="0"/>
              </a:rPr>
              <a:t>ASSUMES AN EFFECT,</a:t>
            </a:r>
          </a:p>
          <a:p>
            <a:r>
              <a:rPr lang="en-US" sz="1400" dirty="0">
                <a:latin typeface="Franklin Gothic Medium" panose="020B0603020102020204" pitchFamily="34" charset="0"/>
              </a:rPr>
              <a:t>                        A DIFFERENCE</a:t>
            </a:r>
          </a:p>
          <a:p>
            <a:r>
              <a:rPr lang="en-US" sz="1400" b="1" dirty="0">
                <a:latin typeface="Franklin Gothic Medium" panose="020B0603020102020204" pitchFamily="34" charset="0"/>
              </a:rPr>
              <a:t>• NATURE </a:t>
            </a:r>
            <a:r>
              <a:rPr lang="en-US" sz="1400" dirty="0">
                <a:latin typeface="Franklin Gothic Medium" panose="020B0603020102020204" pitchFamily="34" charset="0"/>
              </a:rPr>
              <a:t>:    POSITIVE</a:t>
            </a:r>
          </a:p>
          <a:p>
            <a:r>
              <a:rPr lang="en-US" sz="1400" b="1" dirty="0">
                <a:latin typeface="Franklin Gothic Medium" panose="020B0603020102020204" pitchFamily="34" charset="0"/>
              </a:rPr>
              <a:t>• SYMBOL :    </a:t>
            </a:r>
            <a:r>
              <a:rPr lang="en-US" sz="1400" dirty="0">
                <a:latin typeface="Franklin Gothic Medium" panose="020B0603020102020204" pitchFamily="34" charset="0"/>
              </a:rPr>
              <a:t>H1</a:t>
            </a:r>
            <a:endParaRPr lang="en-IN" sz="1400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IN" b="0" dirty="0"/>
              <a:t>Steps in Hypothesis Testing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xmlns="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867150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Franklin Gothic Medium" panose="020B0603020102020204" pitchFamily="34" charset="0"/>
              </a:rPr>
              <a:t>1. Define H0 and H1.</a:t>
            </a:r>
          </a:p>
          <a:p>
            <a:pPr marL="0" indent="0">
              <a:buNone/>
            </a:pPr>
            <a:r>
              <a:rPr lang="en-US" dirty="0">
                <a:latin typeface="Franklin Gothic Medium" panose="020B0603020102020204" pitchFamily="34" charset="0"/>
              </a:rPr>
              <a:t>2. Select significance level (e.g., 5%).</a:t>
            </a:r>
          </a:p>
          <a:p>
            <a:pPr marL="0" indent="0">
              <a:buNone/>
            </a:pPr>
            <a:r>
              <a:rPr lang="en-IN" dirty="0">
                <a:latin typeface="Franklin Gothic Medium" panose="020B0603020102020204" pitchFamily="34" charset="0"/>
              </a:rPr>
              <a:t>3. Choose testing method.</a:t>
            </a:r>
          </a:p>
          <a:p>
            <a:pPr marL="0" indent="0">
              <a:buNone/>
            </a:pPr>
            <a:r>
              <a:rPr lang="en-IN" dirty="0">
                <a:latin typeface="Franklin Gothic Medium" panose="020B0603020102020204" pitchFamily="34" charset="0"/>
              </a:rPr>
              <a:t>4. Collect data.</a:t>
            </a:r>
          </a:p>
          <a:p>
            <a:pPr marL="0" indent="0">
              <a:buNone/>
            </a:pPr>
            <a:r>
              <a:rPr lang="en-IN" dirty="0">
                <a:latin typeface="Franklin Gothic Medium" panose="020B0603020102020204" pitchFamily="34" charset="0"/>
              </a:rPr>
              <a:t>5. Compare test results.</a:t>
            </a:r>
          </a:p>
          <a:p>
            <a:pPr marL="0" indent="0">
              <a:buNone/>
            </a:pPr>
            <a:r>
              <a:rPr lang="en-US" dirty="0">
                <a:latin typeface="Franklin Gothic Medium" panose="020B0603020102020204" pitchFamily="34" charset="0"/>
              </a:rPr>
              <a:t>6. Accept or reject H0.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xmlns="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IN" b="0" dirty="0"/>
              <a:t>                Conclusion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>
                <a:latin typeface="Franklin Gothic Medium" panose="020B0603020102020204" pitchFamily="34" charset="0"/>
              </a:rPr>
              <a:t>• Hypothesis testing helps make scientific</a:t>
            </a:r>
          </a:p>
          <a:p>
            <a:r>
              <a:rPr lang="en-IN" dirty="0">
                <a:latin typeface="Franklin Gothic Medium" panose="020B0603020102020204" pitchFamily="34" charset="0"/>
              </a:rPr>
              <a:t>decisions.</a:t>
            </a:r>
          </a:p>
          <a:p>
            <a:endParaRPr lang="pt-BR" dirty="0">
              <a:latin typeface="Franklin Gothic Medium" panose="020B0603020102020204" pitchFamily="34" charset="0"/>
            </a:endParaRPr>
          </a:p>
          <a:p>
            <a:r>
              <a:rPr lang="pt-BR" dirty="0">
                <a:latin typeface="Franklin Gothic Medium" panose="020B0603020102020204" pitchFamily="34" charset="0"/>
              </a:rPr>
              <a:t>• H0 assumes no difference; H1 assumes</a:t>
            </a:r>
          </a:p>
          <a:p>
            <a:r>
              <a:rPr lang="en-IN" dirty="0">
                <a:latin typeface="Franklin Gothic Medium" panose="020B0603020102020204" pitchFamily="34" charset="0"/>
              </a:rPr>
              <a:t>difference.</a:t>
            </a:r>
          </a:p>
          <a:p>
            <a:endParaRPr lang="en-US" dirty="0">
              <a:latin typeface="Franklin Gothic Medium" panose="020B0603020102020204" pitchFamily="34" charset="0"/>
            </a:endParaRPr>
          </a:p>
          <a:p>
            <a:r>
              <a:rPr lang="en-US" dirty="0">
                <a:latin typeface="Franklin Gothic Medium" panose="020B0603020102020204" pitchFamily="34" charset="0"/>
              </a:rPr>
              <a:t>• Research aims to gather evidence to</a:t>
            </a:r>
          </a:p>
          <a:p>
            <a:r>
              <a:rPr lang="en-IN" dirty="0">
                <a:latin typeface="Franklin Gothic Medium" panose="020B0603020102020204" pitchFamily="34" charset="0"/>
              </a:rPr>
              <a:t>reject H0.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1" y="1680539"/>
            <a:ext cx="5715000" cy="3297861"/>
          </a:xfrm>
        </p:spPr>
        <p:txBody>
          <a:bodyPr/>
          <a:lstStyle/>
          <a:p>
            <a:r>
              <a:rPr lang="en-US" sz="9600" dirty="0"/>
              <a:t>Thank </a:t>
            </a:r>
            <a:br>
              <a:rPr lang="en-US" sz="9600" dirty="0"/>
            </a:br>
            <a:r>
              <a:rPr lang="en-US" sz="9600" dirty="0"/>
              <a:t> 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230e9df3-be65-4c73-a93b-d1236ebd677e"/>
    <ds:schemaRef ds:uri="http://purl.org/dc/elements/1.1/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{7D6FA94A-B00C-4FD1-AA3E-5D485173E1E8}tf78438558_win32</Template>
  <TotalTime>93</TotalTime>
  <Words>293</Words>
  <Application>Microsoft Office PowerPoint</Application>
  <PresentationFormat>Custom</PresentationFormat>
  <Paragraphs>89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                    MBA : 1ST SEM           SUBJECT: TWSL-QTB           GROUP No: 23 </vt:lpstr>
      <vt:lpstr>Null and Alternative Hypothesis</vt:lpstr>
      <vt:lpstr>Meaning of Hypothesis</vt:lpstr>
      <vt:lpstr>     Null Hypothesis (H0)  • Assumes no effect, no difference.  • Research tries to reject H0.  • Example: 'There is no difference in sales                        before and after advertising.'</vt:lpstr>
      <vt:lpstr>Alternative Hypothesis (H1)</vt:lpstr>
      <vt:lpstr>Types of Alternative Hypothesis</vt:lpstr>
      <vt:lpstr>Real-Life Business Example</vt:lpstr>
      <vt:lpstr>Difference Between H0 and H1</vt:lpstr>
      <vt:lpstr>Steps in Hypothesis Testing</vt:lpstr>
      <vt:lpstr>                Conclusion</vt:lpstr>
      <vt:lpstr>Thank   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MBA : 1ST SEM           SUBJECT: TWSL-QTB           GROUP No: 23</dc:title>
  <dc:creator>HP</dc:creator>
  <cp:lastModifiedBy>Student</cp:lastModifiedBy>
  <cp:revision>5</cp:revision>
  <dcterms:created xsi:type="dcterms:W3CDTF">2025-12-10T10:05:16Z</dcterms:created>
  <dcterms:modified xsi:type="dcterms:W3CDTF">2025-12-22T07:33:27Z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